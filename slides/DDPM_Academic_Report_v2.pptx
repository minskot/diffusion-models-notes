
<file path=[Content_Types].xml><?xml version="1.0" encoding="utf-8"?>
<Types xmlns="http://schemas.openxmlformats.org/package/2006/content-types">
  <Default Extension="0&amp;ixid=NHwxMjA3fDA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7" r:id="rId20"/>
    <p:sldId id="273" r:id="rId21"/>
    <p:sldId id="274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0&amp;ixid=NHwxMjA3fDA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0&amp;ixid=NHwxMjA3fDA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" y="-12659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325880"/>
            <a:ext cx="1060063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lang="en-US" sz="1600" b="1" dirty="0">
                <a:solidFill>
                  <a:srgbClr val="6FC7C9"/>
                </a:solidFill>
                <a:latin typeface="Calibri"/>
              </a:rPr>
              <a:t>Deep Learning Model Presentation</a:t>
            </a:r>
            <a:endParaRPr sz="1600" b="1" i="0" dirty="0">
              <a:solidFill>
                <a:srgbClr val="6FC7C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528" y="1792903"/>
            <a:ext cx="10600639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4400" b="1" i="0" dirty="0">
                <a:solidFill>
                  <a:srgbClr val="FFFFFF"/>
                </a:solidFill>
                <a:latin typeface="Calibri"/>
              </a:rPr>
              <a:t>Diffusion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644770"/>
            <a:ext cx="1828800" cy="45720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872866"/>
            <a:ext cx="630295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750" b="0" i="0" dirty="0">
                <a:solidFill>
                  <a:srgbClr val="C9D6E2"/>
                </a:solidFill>
                <a:latin typeface="Calibri"/>
              </a:rPr>
              <a:t>Learning to generate images by reversing a gradual noising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662951"/>
            <a:ext cx="3867911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800" b="0" i="0" dirty="0">
                <a:solidFill>
                  <a:srgbClr val="8FA6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xₜ = √(ᾱₜ)·x₀ + √(1−ᾱₜ)·ε</a:t>
            </a:r>
          </a:p>
        </p:txBody>
      </p:sp>
      <p:pic>
        <p:nvPicPr>
          <p:cNvPr id="17" name="图片 16" descr="Improving Diffusion Models as an Alternative To GANs, Part 1 | NVIDIA  Technical Blog">
            <a:extLst>
              <a:ext uri="{FF2B5EF4-FFF2-40B4-BE49-F238E27FC236}">
                <a16:creationId xmlns:a16="http://schemas.microsoft.com/office/drawing/2014/main" id="{907DE41A-9405-A96A-4987-D25AA0E9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9" y="2633472"/>
            <a:ext cx="4766765" cy="30456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8E1529-CCDB-90BA-AF40-43DB86CF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9" y="98934"/>
            <a:ext cx="4766765" cy="288763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6D07007-8F01-39E2-56BD-70F22070F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9" y="5198780"/>
            <a:ext cx="4767072" cy="164656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4724AA6-3018-8625-44EE-B1EDEBD8387D}"/>
              </a:ext>
            </a:extLst>
          </p:cNvPr>
          <p:cNvSpPr txBox="1"/>
          <p:nvPr/>
        </p:nvSpPr>
        <p:spPr>
          <a:xfrm>
            <a:off x="681229" y="4245631"/>
            <a:ext cx="3593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WU Peihang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24108869D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800" b="1" i="0" dirty="0">
                <a:solidFill>
                  <a:srgbClr val="0E7C86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4000" b="1" i="0" dirty="0">
                <a:solidFill>
                  <a:srgbClr val="0B2545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566928" y="2231136"/>
            <a:ext cx="384048" cy="3840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66928" y="227685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281428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0" i="0" dirty="0">
                <a:solidFill>
                  <a:srgbClr val="0B2545"/>
                </a:solidFill>
                <a:latin typeface="Calibri"/>
              </a:rPr>
              <a:t>Why diffusion? Generative modelling landscape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98064"/>
            <a:ext cx="384048" cy="3840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66928" y="284378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848356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0" i="0" dirty="0">
                <a:solidFill>
                  <a:srgbClr val="0B2545"/>
                </a:solidFill>
                <a:latin typeface="Calibri"/>
              </a:rPr>
              <a:t>Forward process — the closed-form shortcut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64992"/>
            <a:ext cx="384048" cy="3840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566928" y="3410712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415284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0" i="0">
                <a:solidFill>
                  <a:srgbClr val="0B2545"/>
                </a:solidFill>
                <a:latin typeface="Calibri"/>
              </a:rPr>
              <a:t>Reverse process — the intractable posterior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31920"/>
            <a:ext cx="384048" cy="3840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66928" y="3977639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3982211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0" i="0">
                <a:solidFill>
                  <a:srgbClr val="0B2545"/>
                </a:solidFill>
                <a:latin typeface="Calibri"/>
              </a:rPr>
              <a:t>Variational bound — deriving the training 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98848"/>
            <a:ext cx="384048" cy="3840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54914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0" i="0" dirty="0">
                <a:solidFill>
                  <a:srgbClr val="0B2545"/>
                </a:solidFill>
                <a:latin typeface="Calibri"/>
              </a:rPr>
              <a:t>Training and sampling algorithms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65776"/>
            <a:ext cx="384048" cy="3840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566928" y="511149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116068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0" i="0">
                <a:solidFill>
                  <a:srgbClr val="0B2545"/>
                </a:solidFill>
                <a:latin typeface="Calibri"/>
              </a:rPr>
              <a:t>Design choices, results, and modern extensions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lang="en-US" sz="2000" b="0" i="0" dirty="0">
                <a:solidFill>
                  <a:srgbClr val="5A6672"/>
                </a:solidFill>
                <a:latin typeface="Calibri"/>
              </a:rPr>
              <a:t>* The </a:t>
            </a:r>
            <a:r>
              <a:rPr sz="2000" b="0" i="0" dirty="0">
                <a:solidFill>
                  <a:srgbClr val="5A6672"/>
                </a:solidFill>
                <a:latin typeface="Calibri"/>
              </a:rPr>
              <a:t>Denoising Diffusion Probabilistic Model</a:t>
            </a:r>
            <a:r>
              <a:rPr lang="en-US" sz="2000" b="0" i="0" dirty="0">
                <a:solidFill>
                  <a:srgbClr val="5A6672"/>
                </a:solidFill>
                <a:latin typeface="Calibri"/>
              </a:rPr>
              <a:t> is the variant discussed here.</a:t>
            </a:r>
            <a:endParaRPr sz="2000" b="0" i="0" dirty="0">
              <a:solidFill>
                <a:srgbClr val="5A6672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2</a:t>
            </a:r>
          </a:p>
        </p:txBody>
      </p:sp>
      <p:pic>
        <p:nvPicPr>
          <p:cNvPr id="25" name="图片 24" descr="How Diffusion Models Work in 2026: From Noise to Images - Hayden's Server  Room">
            <a:extLst>
              <a:ext uri="{FF2B5EF4-FFF2-40B4-BE49-F238E27FC236}">
                <a16:creationId xmlns:a16="http://schemas.microsoft.com/office/drawing/2014/main" id="{2C41EB0B-9F5C-172F-0538-56156EBAD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84" y="3086100"/>
            <a:ext cx="5620007" cy="2998409"/>
          </a:xfrm>
          <a:prstGeom prst="rect">
            <a:avLst/>
          </a:prstGeom>
        </p:spPr>
      </p:pic>
      <p:pic>
        <p:nvPicPr>
          <p:cNvPr id="27" name="Picture 14" descr="catDiffusion.jpg">
            <a:extLst>
              <a:ext uri="{FF2B5EF4-FFF2-40B4-BE49-F238E27FC236}">
                <a16:creationId xmlns:a16="http://schemas.microsoft.com/office/drawing/2014/main" id="{7EA40E4A-F959-2F8F-6EB8-56A53671D6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5805" y="432262"/>
            <a:ext cx="6617874" cy="2196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Background: what is a diffusion model?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495044"/>
            <a:ext cx="5367528" cy="45857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900" b="0" dirty="0">
                <a:solidFill>
                  <a:srgbClr val="0B2545"/>
                </a:solidFill>
                <a:latin typeface="Calibri"/>
              </a:rPr>
              <a:t>Diffusion models are inspired by a familiar physical process: </a:t>
            </a:r>
            <a:r>
              <a:rPr sz="1900" b="0" dirty="0">
                <a:solidFill>
                  <a:srgbClr val="0B2545"/>
                </a:solidFill>
                <a:highlight>
                  <a:srgbClr val="FFFF00"/>
                </a:highlight>
                <a:latin typeface="Calibri"/>
              </a:rPr>
              <a:t>particles drift from high to low concentration until the system reaches equilibrium.</a:t>
            </a:r>
          </a:p>
          <a:p>
            <a:pPr>
              <a:lnSpc>
                <a:spcPct val="122000"/>
              </a:lnSpc>
            </a:pPr>
            <a:endParaRPr sz="1900" b="0" dirty="0">
              <a:solidFill>
                <a:srgbClr val="0B2545"/>
              </a:solidFill>
              <a:latin typeface="Calibri"/>
            </a:endParaRPr>
          </a:p>
          <a:p>
            <a:pPr>
              <a:lnSpc>
                <a:spcPct val="122000"/>
              </a:lnSpc>
            </a:pPr>
            <a:r>
              <a:rPr sz="1900" b="0" dirty="0">
                <a:solidFill>
                  <a:srgbClr val="0B2545"/>
                </a:solidFill>
                <a:latin typeface="Calibri"/>
              </a:rPr>
              <a:t>A diffusion model borrows this idea. It adds noise to an image step by step, then trains a network to reverse that process.</a:t>
            </a:r>
          </a:p>
          <a:p>
            <a:pPr>
              <a:lnSpc>
                <a:spcPct val="122000"/>
              </a:lnSpc>
            </a:pPr>
            <a:endParaRPr sz="1900" b="0" dirty="0">
              <a:solidFill>
                <a:srgbClr val="0B2545"/>
              </a:solidFill>
              <a:latin typeface="Calibri"/>
            </a:endParaRPr>
          </a:p>
          <a:p>
            <a:pPr>
              <a:lnSpc>
                <a:spcPct val="122000"/>
              </a:lnSpc>
            </a:pPr>
            <a:r>
              <a:rPr sz="1900" b="0" dirty="0">
                <a:solidFill>
                  <a:srgbClr val="0B2545"/>
                </a:solidFill>
                <a:latin typeface="Calibri"/>
              </a:rPr>
              <a:t>Once the network can turn noise back into an image, we can generate new samples from pure random noise — no existing image required.</a:t>
            </a:r>
          </a:p>
        </p:txBody>
      </p:sp>
      <p:pic>
        <p:nvPicPr>
          <p:cNvPr id="7" name="图片 6" descr="blue and red smoke illustration">
            <a:extLst>
              <a:ext uri="{FF2B5EF4-FFF2-40B4-BE49-F238E27FC236}">
                <a16:creationId xmlns:a16="http://schemas.microsoft.com/office/drawing/2014/main" id="{E06DE07C-1431-ED7C-E8D3-5EFACD318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498" y="759108"/>
            <a:ext cx="3126189" cy="26698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C45CBA9-DE57-F013-8079-0195D6E5D6EF}"/>
              </a:ext>
            </a:extLst>
          </p:cNvPr>
          <p:cNvSpPr txBox="1"/>
          <p:nvPr/>
        </p:nvSpPr>
        <p:spPr>
          <a:xfrm>
            <a:off x="7784287" y="341114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latin typeface="Georgia" panose="02040502050405020303" pitchFamily="18" charset="0"/>
              </a:rPr>
              <a:t>“Can Diffusion get reversed?”</a:t>
            </a:r>
            <a:endParaRPr lang="zh-CN" altLang="en-US" i="1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pic>
        <p:nvPicPr>
          <p:cNvPr id="9" name="图片 8" descr="liveBook · Manning">
            <a:extLst>
              <a:ext uri="{FF2B5EF4-FFF2-40B4-BE49-F238E27FC236}">
                <a16:creationId xmlns:a16="http://schemas.microsoft.com/office/drawing/2014/main" id="{F0CAD26B-D15E-3ED8-405A-EFEFBC203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317" y="3554226"/>
            <a:ext cx="5099469" cy="2744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39583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 dirty="0">
                <a:solidFill>
                  <a:srgbClr val="0B2545"/>
                </a:solidFill>
                <a:latin typeface="Calibri"/>
              </a:rPr>
              <a:t>Wh</a:t>
            </a:r>
            <a:r>
              <a:rPr lang="en-US" sz="2900" b="1" dirty="0">
                <a:solidFill>
                  <a:srgbClr val="0B2545"/>
                </a:solidFill>
                <a:latin typeface="Calibri"/>
              </a:rPr>
              <a:t>ere is </a:t>
            </a:r>
            <a:r>
              <a:rPr lang="en-US" altLang="zh-CN" sz="2900" b="1" dirty="0">
                <a:solidFill>
                  <a:srgbClr val="0B2545"/>
                </a:solidFill>
                <a:latin typeface="Calibri"/>
              </a:rPr>
              <a:t>the </a:t>
            </a:r>
            <a:r>
              <a:rPr lang="en-US" sz="2900" b="1" dirty="0">
                <a:solidFill>
                  <a:srgbClr val="0B2545"/>
                </a:solidFill>
                <a:latin typeface="Calibri"/>
              </a:rPr>
              <a:t>diffusion</a:t>
            </a:r>
            <a:r>
              <a:rPr lang="en-US" sz="2900" b="1" i="0" dirty="0">
                <a:solidFill>
                  <a:srgbClr val="0B2545"/>
                </a:solidFill>
                <a:latin typeface="Calibri"/>
              </a:rPr>
              <a:t> model</a:t>
            </a:r>
            <a:r>
              <a:rPr sz="2900" b="1" i="0" dirty="0">
                <a:solidFill>
                  <a:srgbClr val="0B2545"/>
                </a:solidFill>
                <a:latin typeface="Calibri"/>
              </a:rPr>
              <a:t>?</a:t>
            </a:r>
            <a:endParaRPr lang="en-US" sz="2900" b="1" i="0" dirty="0">
              <a:solidFill>
                <a:srgbClr val="0B2545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27496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1758062"/>
            <a:ext cx="8205512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900" b="0" dirty="0">
                <a:solidFill>
                  <a:srgbClr val="0B2545"/>
                </a:solidFill>
                <a:latin typeface="Calibri"/>
              </a:rPr>
              <a:t>Diffusion sits under </a:t>
            </a:r>
            <a:r>
              <a:rPr sz="1900" b="0" dirty="0">
                <a:solidFill>
                  <a:srgbClr val="0B2545"/>
                </a:solidFill>
                <a:highlight>
                  <a:srgbClr val="FFFF00"/>
                </a:highlight>
                <a:latin typeface="Calibri"/>
              </a:rPr>
              <a:t>Implicit density</a:t>
            </a:r>
            <a:r>
              <a:rPr sz="1900" b="0" dirty="0">
                <a:solidFill>
                  <a:srgbClr val="0B2545"/>
                </a:solidFill>
                <a:latin typeface="Calibri"/>
              </a:rPr>
              <a:t>  →  Indirect sampling:
a generative model that samples through an indirect, iterative procedure.</a:t>
            </a:r>
            <a:endParaRPr lang="en-US" sz="1900" b="0" dirty="0">
              <a:solidFill>
                <a:srgbClr val="0B2545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2608" y="6118055"/>
            <a:ext cx="6117336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</a:pPr>
            <a:r>
              <a:rPr sz="1150" b="0" dirty="0">
                <a:solidFill>
                  <a:srgbClr val="5A6672"/>
                </a:solidFill>
                <a:latin typeface="Calibri"/>
              </a:rPr>
              <a:t>Figure adapted from Goodfellow,</a:t>
            </a:r>
            <a:r>
              <a:rPr lang="en-US" sz="115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150" b="0" dirty="0">
                <a:solidFill>
                  <a:srgbClr val="5A6672"/>
                </a:solidFill>
                <a:latin typeface="Calibri"/>
              </a:rPr>
              <a:t>Tutorial on Generative Adversarial Networks, 2017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34E401-0B29-3203-0B15-A4C7608B24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048" y="1976311"/>
            <a:ext cx="8314815" cy="392349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8FED7B6-1581-7350-51EC-98CF3D2BFD83}"/>
              </a:ext>
            </a:extLst>
          </p:cNvPr>
          <p:cNvSpPr txBox="1"/>
          <p:nvPr/>
        </p:nvSpPr>
        <p:spPr>
          <a:xfrm>
            <a:off x="8854135" y="4705102"/>
            <a:ext cx="2953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</a:rPr>
              <a:t>Classification:</a:t>
            </a:r>
          </a:p>
          <a:p>
            <a:r>
              <a:rPr lang="en-US" altLang="zh-CN" sz="2400" dirty="0">
                <a:solidFill>
                  <a:schemeClr val="tx2"/>
                </a:solidFill>
              </a:rPr>
              <a:t>Implicit density</a:t>
            </a:r>
          </a:p>
          <a:p>
            <a:r>
              <a:rPr lang="en-US" altLang="zh-CN" sz="2400" dirty="0">
                <a:solidFill>
                  <a:schemeClr val="tx2"/>
                </a:solidFill>
              </a:rPr>
              <a:t>Indirect sampling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211A7F-6038-CF81-5456-38DBBCE41599}"/>
              </a:ext>
            </a:extLst>
          </p:cNvPr>
          <p:cNvSpPr txBox="1"/>
          <p:nvPr/>
        </p:nvSpPr>
        <p:spPr>
          <a:xfrm>
            <a:off x="466344" y="890732"/>
            <a:ext cx="7136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Calibri"/>
              </a:rPr>
              <a:t>An o</a:t>
            </a:r>
            <a:r>
              <a:rPr lang="en-US" altLang="zh-CN" sz="2400" b="1" i="0" dirty="0">
                <a:solidFill>
                  <a:schemeClr val="accent1"/>
                </a:solidFill>
                <a:latin typeface="Calibri"/>
              </a:rPr>
              <a:t>verview of t</a:t>
            </a:r>
            <a:r>
              <a:rPr lang="en-US" altLang="zh-CN" sz="2400" b="1" dirty="0">
                <a:solidFill>
                  <a:schemeClr val="accent1"/>
                </a:solidFill>
              </a:rPr>
              <a:t>he generative modelling landscape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BEE8-6462-4D7D-D35A-46B355D2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D65EEA-C57C-7EBB-90BE-DB58821E5016}"/>
              </a:ext>
            </a:extLst>
          </p:cNvPr>
          <p:cNvSpPr txBox="1"/>
          <p:nvPr/>
        </p:nvSpPr>
        <p:spPr>
          <a:xfrm>
            <a:off x="567080" y="423139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2900" b="1" i="0" dirty="0">
                <a:solidFill>
                  <a:srgbClr val="0B2545"/>
                </a:solidFill>
                <a:latin typeface="Calibri"/>
              </a:rPr>
              <a:t>The </a:t>
            </a:r>
            <a:r>
              <a:rPr lang="en-US" sz="2900" b="1" dirty="0">
                <a:solidFill>
                  <a:srgbClr val="0B2545"/>
                </a:solidFill>
              </a:rPr>
              <a:t>forward and backward processes of</a:t>
            </a:r>
            <a:r>
              <a:rPr lang="zh-CN" altLang="en-US" sz="2900" b="1" dirty="0">
                <a:solidFill>
                  <a:srgbClr val="0B2545"/>
                </a:solidFill>
              </a:rPr>
              <a:t> </a:t>
            </a:r>
            <a:r>
              <a:rPr lang="en-US" altLang="zh-CN" sz="2900" b="1" dirty="0">
                <a:solidFill>
                  <a:srgbClr val="0B2545"/>
                </a:solidFill>
              </a:rPr>
              <a:t>Diffusion</a:t>
            </a:r>
            <a:r>
              <a:rPr lang="zh-CN" altLang="en-US" sz="2900" b="1" dirty="0">
                <a:solidFill>
                  <a:srgbClr val="0B2545"/>
                </a:solidFill>
              </a:rPr>
              <a:t> </a:t>
            </a:r>
            <a:r>
              <a:rPr lang="en-US" altLang="zh-CN" sz="2900" b="1" dirty="0">
                <a:solidFill>
                  <a:srgbClr val="0B2545"/>
                </a:solidFill>
              </a:rPr>
              <a:t>Model</a:t>
            </a:r>
            <a:endParaRPr sz="2900" b="1" i="0" dirty="0">
              <a:solidFill>
                <a:srgbClr val="0B2545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B70E2-20D5-2DC6-9969-2CA0CDA4CE56}"/>
              </a:ext>
            </a:extLst>
          </p:cNvPr>
          <p:cNvSpPr/>
          <p:nvPr/>
        </p:nvSpPr>
        <p:spPr>
          <a:xfrm>
            <a:off x="566928" y="875766"/>
            <a:ext cx="2249424" cy="45719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5F5814-A819-EE37-8830-5E016B6918D1}"/>
              </a:ext>
            </a:extLst>
          </p:cNvPr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C32599-E298-5C15-474E-DC4F1CEA7D3A}"/>
              </a:ext>
            </a:extLst>
          </p:cNvPr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9CC783-62E4-ABE1-9C1E-358F9B48FA24}"/>
              </a:ext>
            </a:extLst>
          </p:cNvPr>
          <p:cNvSpPr txBox="1"/>
          <p:nvPr/>
        </p:nvSpPr>
        <p:spPr>
          <a:xfrm>
            <a:off x="491804" y="4836885"/>
            <a:ext cx="11133115" cy="13326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2000" b="0" dirty="0">
                <a:solidFill>
                  <a:srgbClr val="0B2545"/>
                </a:solidFill>
                <a:latin typeface="Calibri"/>
              </a:rPr>
              <a:t>Diffusion </a:t>
            </a:r>
            <a:r>
              <a:rPr lang="en-US" sz="2000" b="0" dirty="0">
                <a:solidFill>
                  <a:srgbClr val="0B2545"/>
                </a:solidFill>
                <a:latin typeface="Calibri"/>
              </a:rPr>
              <a:t>models are</a:t>
            </a:r>
            <a:r>
              <a:rPr lang="en-US" sz="2000" dirty="0">
                <a:solidFill>
                  <a:srgbClr val="0B2545"/>
                </a:solidFill>
                <a:latin typeface="Calibri"/>
              </a:rPr>
              <a:t> bi-directional, comprising</a:t>
            </a:r>
            <a:r>
              <a:rPr lang="en-US" sz="2000" dirty="0">
                <a:solidFill>
                  <a:srgbClr val="0B2545"/>
                </a:solidFill>
              </a:rPr>
              <a:t> the noise addition process and the denoising process</a:t>
            </a:r>
            <a:endParaRPr lang="en-US" sz="2000" b="0" dirty="0">
              <a:solidFill>
                <a:srgbClr val="0B2545"/>
              </a:solidFill>
              <a:latin typeface="Calibri"/>
            </a:endParaRPr>
          </a:p>
          <a:p>
            <a:pPr>
              <a:lnSpc>
                <a:spcPct val="124000"/>
              </a:lnSpc>
            </a:pPr>
            <a:r>
              <a:rPr lang="en-US" sz="2000" b="0" dirty="0">
                <a:solidFill>
                  <a:srgbClr val="0B2545"/>
                </a:solidFill>
                <a:latin typeface="Calibri"/>
              </a:rPr>
              <a:t>The noise addition process follows </a:t>
            </a:r>
            <a:r>
              <a:rPr lang="en-US" sz="2000" dirty="0">
                <a:solidFill>
                  <a:srgbClr val="0B2545"/>
                </a:solidFill>
                <a:latin typeface="Calibri"/>
              </a:rPr>
              <a:t>the</a:t>
            </a:r>
            <a:r>
              <a:rPr lang="en-US" sz="2000" b="0" dirty="0">
                <a:solidFill>
                  <a:srgbClr val="0B2545"/>
                </a:solidFill>
                <a:latin typeface="Calibri"/>
              </a:rPr>
              <a:t> </a:t>
            </a:r>
            <a:r>
              <a:rPr lang="en-US" sz="2000" b="0" dirty="0">
                <a:solidFill>
                  <a:srgbClr val="0B2545"/>
                </a:solidFill>
                <a:highlight>
                  <a:srgbClr val="FFFF00"/>
                </a:highlight>
                <a:latin typeface="Calibri"/>
              </a:rPr>
              <a:t>Markov Chain</a:t>
            </a:r>
            <a:r>
              <a:rPr lang="en-US" sz="2000" b="0" dirty="0">
                <a:solidFill>
                  <a:srgbClr val="0B2545"/>
                </a:solidFill>
                <a:latin typeface="Calibri"/>
              </a:rPr>
              <a:t>, easier to find the relationship between time steps.</a:t>
            </a:r>
          </a:p>
          <a:p>
            <a:pPr>
              <a:lnSpc>
                <a:spcPct val="124000"/>
              </a:lnSpc>
            </a:pPr>
            <a:r>
              <a:rPr lang="en-US" sz="2000" b="0" dirty="0">
                <a:solidFill>
                  <a:srgbClr val="0B2545"/>
                </a:solidFill>
                <a:latin typeface="Calibri"/>
              </a:rPr>
              <a:t>The</a:t>
            </a:r>
            <a:r>
              <a:rPr lang="en-US" altLang="zh-CN" sz="2000" dirty="0">
                <a:solidFill>
                  <a:srgbClr val="0B2545"/>
                </a:solidFill>
              </a:rPr>
              <a:t> denoising </a:t>
            </a:r>
            <a:r>
              <a:rPr lang="en-US" sz="2000" b="0" dirty="0">
                <a:solidFill>
                  <a:srgbClr val="0B2545"/>
                </a:solidFill>
                <a:latin typeface="Calibri"/>
              </a:rPr>
              <a:t> process </a:t>
            </a:r>
            <a:r>
              <a:rPr lang="en-US" sz="2000" dirty="0">
                <a:solidFill>
                  <a:srgbClr val="0B2545"/>
                </a:solidFill>
              </a:rPr>
              <a:t>is </a:t>
            </a:r>
            <a:r>
              <a:rPr lang="en-US" altLang="zh-CN" sz="2000" dirty="0">
                <a:solidFill>
                  <a:srgbClr val="0B2545"/>
                </a:solidFill>
              </a:rPr>
              <a:t>similar to</a:t>
            </a:r>
            <a:r>
              <a:rPr lang="en-US" sz="2000" dirty="0">
                <a:solidFill>
                  <a:srgbClr val="0B2545"/>
                </a:solidFill>
              </a:rPr>
              <a:t> </a:t>
            </a:r>
            <a:r>
              <a:rPr lang="en-US" sz="2000" dirty="0">
                <a:solidFill>
                  <a:srgbClr val="0B2545"/>
                </a:solidFill>
                <a:highlight>
                  <a:srgbClr val="FFFF00"/>
                </a:highlight>
              </a:rPr>
              <a:t>“entropy reduction”</a:t>
            </a:r>
            <a:r>
              <a:rPr lang="en-US" sz="2000" dirty="0">
                <a:solidFill>
                  <a:srgbClr val="0B2545"/>
                </a:solidFill>
              </a:rPr>
              <a:t>,  being more challenging to tackle.</a:t>
            </a:r>
            <a:endParaRPr sz="2000" b="0" dirty="0">
              <a:solidFill>
                <a:srgbClr val="0B2545"/>
              </a:solidFill>
              <a:latin typeface="Calibr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907EB2-D300-DEF8-DB81-F8A85CAC82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354372" y="1118083"/>
            <a:ext cx="12168419" cy="352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8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The core idea: destroy information, then learn to restore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401568"/>
            <a:ext cx="1600200" cy="51206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52044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b="1" i="0">
                <a:solidFill>
                  <a:srgbClr val="0E7C86"/>
                </a:solidFill>
                <a:latin typeface="Calibri"/>
              </a:rPr>
              <a:t>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3529584"/>
            <a:ext cx="91833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0B2545"/>
                </a:solidFill>
                <a:latin typeface="Calibri"/>
              </a:rPr>
              <a:t>fixed, no learning — gradually add Gaussian noise over T steps until the signal becomes pure noise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674" y="4087368"/>
            <a:ext cx="1600200" cy="51206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66928" y="4215155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b="1" i="0" dirty="0">
                <a:solidFill>
                  <a:srgbClr val="B46A0A"/>
                </a:solidFill>
                <a:latin typeface="Calibri"/>
              </a:rPr>
              <a:t>REVERSE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7" y="4388662"/>
            <a:ext cx="91833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0B2545"/>
                </a:solidFill>
                <a:latin typeface="Calibri"/>
              </a:rPr>
              <a:t>learned — train a network to undo one small noising step at a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777740"/>
            <a:ext cx="1600200" cy="51206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87375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</a:pPr>
            <a:r>
              <a:rPr b="1" i="0" dirty="0">
                <a:solidFill>
                  <a:srgbClr val="0070C0"/>
                </a:solidFill>
                <a:latin typeface="Calibri"/>
              </a:rPr>
              <a:t>SAMPLE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4884724"/>
            <a:ext cx="91833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0B2545"/>
                </a:solidFill>
                <a:latin typeface="Calibri"/>
              </a:rPr>
              <a:t>inference — iteratively denoise from random noise to obtain a new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586984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Key point: each step is small, so both the forward and the learned reverse step can be modelled as </a:t>
            </a:r>
            <a:r>
              <a:rPr b="0" i="0" dirty="0">
                <a:solidFill>
                  <a:srgbClr val="5A6672"/>
                </a:solidFill>
                <a:highlight>
                  <a:srgbClr val="FFFF00"/>
                </a:highlight>
                <a:latin typeface="Calibri"/>
              </a:rPr>
              <a:t>Gaussians</a:t>
            </a:r>
            <a:r>
              <a:rPr b="0" i="0" dirty="0">
                <a:solidFill>
                  <a:srgbClr val="5A6672"/>
                </a:solidFill>
                <a:latin typeface="Calibri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6</a:t>
            </a:r>
          </a:p>
        </p:txBody>
      </p:sp>
      <p:pic>
        <p:nvPicPr>
          <p:cNvPr id="26" name="Picture 25" descr="forward_noi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528" y="1233982"/>
            <a:ext cx="7422637" cy="14813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67028" y="2807208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A6672"/>
                </a:solidFill>
                <a:latin typeface="Calibri"/>
              </a:rPr>
              <a:t>Measured on a real training image (tiger face, 32×32): q(xₜ|x₀) over t = 0 → 99. Noise is Gaussian at every step and the schedule is fixed — nothing is learned here.</a:t>
            </a:r>
          </a:p>
        </p:txBody>
      </p:sp>
      <p:pic>
        <p:nvPicPr>
          <p:cNvPr id="7" name="Picture 7" descr="idea_forward.png">
            <a:extLst>
              <a:ext uri="{FF2B5EF4-FFF2-40B4-BE49-F238E27FC236}">
                <a16:creationId xmlns:a16="http://schemas.microsoft.com/office/drawing/2014/main" id="{7C87F1D7-006C-62F5-6E0C-918FF6616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" y="3117841"/>
            <a:ext cx="4655394" cy="358707"/>
          </a:xfrm>
          <a:prstGeom prst="rect">
            <a:avLst/>
          </a:prstGeom>
        </p:spPr>
      </p:pic>
      <p:pic>
        <p:nvPicPr>
          <p:cNvPr id="9" name="Picture 10" descr="idea_reverse.png">
            <a:extLst>
              <a:ext uri="{FF2B5EF4-FFF2-40B4-BE49-F238E27FC236}">
                <a16:creationId xmlns:a16="http://schemas.microsoft.com/office/drawing/2014/main" id="{8E221F55-7255-C62D-CD9A-C2EE8DE71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007" y="4053138"/>
            <a:ext cx="3511296" cy="262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600" b="1" i="0" dirty="0">
                <a:solidFill>
                  <a:srgbClr val="0E7C86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 dirty="0">
                <a:solidFill>
                  <a:srgbClr val="0B2545"/>
                </a:solidFill>
                <a:latin typeface="Calibri"/>
              </a:rPr>
              <a:t>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1444753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400" b="1" i="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8728" y="1545336"/>
            <a:ext cx="8086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>
                <a:solidFill>
                  <a:srgbClr val="0B2545"/>
                </a:solidFill>
                <a:latin typeface="Calibri"/>
              </a:rPr>
              <a:t>clean data sample drawn from the data distribution q(x₀)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574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400" b="1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2093976"/>
            <a:ext cx="8086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0B2545"/>
                </a:solidFill>
                <a:latin typeface="Calibri"/>
              </a:rPr>
              <a:t>noisy sample at time step t, t = 1 …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615183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2400" b="1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βₜ ∈ (0,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642616"/>
            <a:ext cx="8086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0B2545"/>
                </a:solidFill>
                <a:latin typeface="Calibri"/>
              </a:rPr>
              <a:t>per-step noise variance (the noise schedule)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1958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2400" b="1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αₜ = 1 − βₜ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191256"/>
            <a:ext cx="8086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0B2545"/>
                </a:solidFill>
                <a:latin typeface="Calibri"/>
              </a:rPr>
              <a:t>per-step signal retention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749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400" i="0" dirty="0">
                <a:solidFill>
                  <a:srgbClr val="0E7C86"/>
                </a:solidFill>
                <a:latin typeface="Calibri"/>
              </a:rPr>
              <a:t>α</a:t>
            </a:r>
            <a:r>
              <a:rPr lang="zh-CN" altLang="en-US"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̄</a:t>
            </a:r>
            <a:r>
              <a:rPr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ₜ = ∏</a:t>
            </a:r>
            <a:r>
              <a:rPr lang="en-US"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ᵢ</a:t>
            </a:r>
            <a:r>
              <a:rPr lang="zh-CN" altLang="en-US"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₌₁</a:t>
            </a:r>
            <a:r>
              <a:rPr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ᵗ</a:t>
            </a:r>
            <a:r>
              <a:rPr lang="en-US"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αᵢ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739896"/>
            <a:ext cx="8086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>
                <a:solidFill>
                  <a:srgbClr val="0B2545"/>
                </a:solidFill>
                <a:latin typeface="Calibri"/>
              </a:rPr>
              <a:t>cumulative signal retention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297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 ~ </a:t>
            </a:r>
            <a:r>
              <a:rPr sz="2400" i="1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dirty="0">
                <a:solidFill>
                  <a:srgbClr val="0E7C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 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4288536"/>
            <a:ext cx="8086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0B2545"/>
                </a:solidFill>
                <a:latin typeface="Calibri"/>
              </a:rPr>
              <a:t>standard Gaussian noise, same shape as x₀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864607"/>
            <a:ext cx="11057839" cy="777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864607"/>
            <a:ext cx="45720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4864607"/>
            <a:ext cx="10655503" cy="7772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000" b="0" i="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βₜ increases with t  ⇒  ᾱ</a:t>
            </a:r>
            <a:r>
              <a:rPr lang="en-US" sz="200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_t</a:t>
            </a:r>
            <a:r>
              <a:rPr sz="2000" b="0" i="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decreases with t </a:t>
            </a:r>
            <a:r>
              <a:rPr lang="en-US" sz="2000" b="0" i="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 -&gt; T</a:t>
            </a:r>
            <a:endParaRPr lang="en-US" sz="2000" dirty="0">
              <a:solidFill>
                <a:srgbClr val="0B254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</a:pPr>
            <a:r>
              <a:rPr sz="2000" b="0" i="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ᾱ_</a:t>
            </a:r>
            <a:r>
              <a:rPr lang="en-US" sz="200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0" i="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0  ⇒  </a:t>
            </a:r>
            <a:r>
              <a:rPr sz="2000" b="0" i="0" dirty="0" err="1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</a:t>
            </a:r>
            <a:r>
              <a:rPr sz="2000" b="0" i="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sz="2000" b="0" i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b="0" i="0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 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600" b="1" i="0" dirty="0">
                <a:solidFill>
                  <a:srgbClr val="0E7C86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 dirty="0">
                <a:solidFill>
                  <a:srgbClr val="0B2545"/>
                </a:solidFill>
                <a:latin typeface="Calibri"/>
              </a:rPr>
              <a:t>Forward process: a fixed </a:t>
            </a:r>
            <a:r>
              <a:rPr sz="2900" b="1" i="0" dirty="0">
                <a:solidFill>
                  <a:srgbClr val="0B2545"/>
                </a:solidFill>
                <a:highlight>
                  <a:srgbClr val="FFFF00"/>
                </a:highlight>
                <a:latin typeface="Calibri"/>
              </a:rPr>
              <a:t>Markov chain </a:t>
            </a:r>
            <a:r>
              <a:rPr sz="2900" b="1" i="0" dirty="0">
                <a:solidFill>
                  <a:srgbClr val="0B2545"/>
                </a:solidFill>
                <a:latin typeface="Calibri"/>
              </a:rPr>
              <a:t>that adds noise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Each step keeps a shrinking fraction of the signal and injects a little Gaussian noise: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11057839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65376"/>
            <a:ext cx="45720" cy="8412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wd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35" y="2038870"/>
            <a:ext cx="5410141" cy="6039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834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1" i="0" dirty="0">
                <a:solidFill>
                  <a:srgbClr val="0E7C86"/>
                </a:solidFill>
                <a:latin typeface="Calibri"/>
              </a:rPr>
              <a:t>Reparametrized: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00400"/>
            <a:ext cx="11057839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200400"/>
            <a:ext cx="45720" cy="8412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wd_repa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3427955"/>
            <a:ext cx="7897512" cy="4828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178808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The forward process has no learnable parameters — it is fully specified by the schedule {βₜ}.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Because every step is Gaussian, the composition of steps stays Gaussian — which gives us a closed form (next slide).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1 ·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 dirty="0">
                <a:solidFill>
                  <a:srgbClr val="0B2545"/>
                </a:solidFill>
                <a:latin typeface="Calibri"/>
              </a:rPr>
              <a:t>The </a:t>
            </a:r>
            <a:r>
              <a:rPr sz="2900" b="1" i="0" dirty="0">
                <a:solidFill>
                  <a:srgbClr val="0B2545"/>
                </a:solidFill>
                <a:highlight>
                  <a:srgbClr val="FFFF00"/>
                </a:highlight>
                <a:latin typeface="Calibri"/>
              </a:rPr>
              <a:t>closed-form shortcut:</a:t>
            </a:r>
            <a:r>
              <a:rPr sz="2900" b="1" i="0" dirty="0">
                <a:solidFill>
                  <a:srgbClr val="0B2545"/>
                </a:solidFill>
                <a:latin typeface="Calibri"/>
              </a:rPr>
              <a:t> jump to any time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Unrolling two steps and using the fact that the sum of independent Gaussians is Gaussian: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11057839" cy="7863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65376"/>
            <a:ext cx="4572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7" y="2707538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Substituting both sides and collecting the noise terms: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54096"/>
            <a:ext cx="11057839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054096"/>
            <a:ext cx="45720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f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348346"/>
            <a:ext cx="9955717" cy="3237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6" y="4105656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Repeating to x₀ gives the closed form used throughout DDPM: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43984"/>
            <a:ext cx="11057839" cy="1005840"/>
          </a:xfrm>
          <a:prstGeom prst="rect">
            <a:avLst/>
          </a:prstGeom>
          <a:solidFill>
            <a:srgbClr val="E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443984"/>
            <a:ext cx="45720" cy="1005840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f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365" y="4528108"/>
            <a:ext cx="6658243" cy="81838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9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E33ACFB-F55F-5CE0-1B1F-DC0C57B5D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004049"/>
            <a:ext cx="10628073" cy="5368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1 ·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Why the closed form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5231904" cy="2926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 dirty="0">
                <a:solidFill>
                  <a:srgbClr val="0B2545"/>
                </a:solidFill>
                <a:latin typeface="Calibri"/>
              </a:rPr>
              <a:t>▪  One sample for any t — no need to simulate t sequential steps during training.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 dirty="0">
                <a:solidFill>
                  <a:srgbClr val="0B2545"/>
                </a:solidFill>
                <a:latin typeface="Calibri"/>
              </a:rPr>
              <a:t>▪  In practice we draw one random t per example per gradient step.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 dirty="0">
                <a:solidFill>
                  <a:srgbClr val="0B2545"/>
                </a:solidFill>
                <a:latin typeface="Calibri"/>
              </a:rPr>
              <a:t>▪  xₜ is a deterministic function of (x₀, ε), so the model can be trained with a single random draw.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 dirty="0">
                <a:solidFill>
                  <a:srgbClr val="0B2545"/>
                </a:solidFill>
                <a:latin typeface="Calibri"/>
              </a:rPr>
              <a:t>▪  It makes the entire training objective computable in O(1) per example.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1968" y="1572768"/>
            <a:ext cx="4800600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01968" y="1572768"/>
            <a:ext cx="45720" cy="8412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f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745" y="1835146"/>
            <a:ext cx="4201045" cy="33655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01968" y="2596896"/>
            <a:ext cx="4800600" cy="841248"/>
          </a:xfrm>
          <a:prstGeom prst="rect">
            <a:avLst/>
          </a:prstGeom>
          <a:solidFill>
            <a:srgbClr val="FE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01968" y="2596896"/>
            <a:ext cx="45720" cy="8412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f_li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369" y="2868233"/>
            <a:ext cx="3305446" cy="2985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01968" y="363016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Because xₜ is available in closed form, the loss needs only one network evaluation per example.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 dirty="0">
                <a:solidFill>
                  <a:srgbClr val="0B2545"/>
                </a:solidFill>
                <a:latin typeface="Calibri"/>
              </a:rPr>
              <a:t>Reverse process: the posterior we actually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4352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We want the inverse of the forward kernel — but Bayes' rule requires the unknown marginals q(xₜ):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11057839" cy="786384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65376"/>
            <a:ext cx="45720" cy="786384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ev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55" y="1920240"/>
            <a:ext cx="3936170" cy="6960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7" y="2789980"/>
            <a:ext cx="11103559" cy="516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Standard fix: condition on x₀ as well. Then all three terms are known Gaussian densities, so the posterior is Gaussian: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3150108"/>
            <a:ext cx="11057839" cy="7863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163824"/>
            <a:ext cx="4572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ev_c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42" y="3218687"/>
            <a:ext cx="5280829" cy="7025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7" y="438912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i="0" dirty="0">
                <a:solidFill>
                  <a:srgbClr val="0E7C86"/>
                </a:solidFill>
                <a:latin typeface="Calibri"/>
              </a:rPr>
              <a:t>This is the training target: an explicit </a:t>
            </a:r>
            <a:r>
              <a:rPr sz="2000" i="0" dirty="0">
                <a:solidFill>
                  <a:srgbClr val="0E7C86"/>
                </a:solidFill>
                <a:highlight>
                  <a:srgbClr val="FFFF00"/>
                </a:highlight>
                <a:latin typeface="Calibri"/>
              </a:rPr>
              <a:t>Gaussian</a:t>
            </a:r>
            <a:r>
              <a:rPr sz="2000" i="0" dirty="0">
                <a:solidFill>
                  <a:srgbClr val="0E7C86"/>
                </a:solidFill>
                <a:latin typeface="Calibri"/>
              </a:rPr>
              <a:t> we can regress 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2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The posterior is Gaussian — with known mean and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1057839" cy="7863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4572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os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500" y="1707096"/>
            <a:ext cx="5294999" cy="4627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395728"/>
            <a:ext cx="1105783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Expanding the product of the three Gaussian densities and completing the square in xₜ₋₁: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11057839" cy="1188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5720" cy="1188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ost_m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351" y="2984941"/>
            <a:ext cx="5133298" cy="74457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4059935"/>
            <a:ext cx="11057839" cy="786384"/>
          </a:xfrm>
          <a:prstGeom prst="rect">
            <a:avLst/>
          </a:prstGeom>
          <a:solidFill>
            <a:srgbClr val="E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059935"/>
            <a:ext cx="45720" cy="786384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ost_v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633" y="4152154"/>
            <a:ext cx="2196027" cy="6777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7" y="50109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The variance depends only on t — it is a known constant, not a quantity we must learn.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Variational bound: turning likelihood into a sum of KL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We </a:t>
            </a:r>
            <a:r>
              <a:rPr b="0" i="0" dirty="0" err="1">
                <a:solidFill>
                  <a:srgbClr val="5A6672"/>
                </a:solidFill>
                <a:latin typeface="Calibri"/>
              </a:rPr>
              <a:t>maximise</a:t>
            </a:r>
            <a:r>
              <a:rPr b="0" i="0" dirty="0">
                <a:solidFill>
                  <a:srgbClr val="5A6672"/>
                </a:solidFill>
                <a:latin typeface="Calibri"/>
              </a:rPr>
              <a:t> the data likelihood. Since it is intractable, we </a:t>
            </a:r>
            <a:r>
              <a:rPr b="0" i="0" dirty="0" err="1">
                <a:solidFill>
                  <a:srgbClr val="5A6672"/>
                </a:solidFill>
                <a:latin typeface="Calibri"/>
              </a:rPr>
              <a:t>maximise</a:t>
            </a:r>
            <a:r>
              <a:rPr b="0" i="0" dirty="0">
                <a:solidFill>
                  <a:srgbClr val="5A6672"/>
                </a:solidFill>
                <a:latin typeface="Calibri"/>
              </a:rPr>
              <a:t> its evidence lower bound: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11057839" cy="7863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65376"/>
            <a:ext cx="4572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lb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86" y="2085210"/>
            <a:ext cx="9680521" cy="3886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76148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Writing the joint distributions along the Markov chain and rearranging gives a sum of three groups of terms: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08960"/>
            <a:ext cx="11057839" cy="145389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108960"/>
            <a:ext cx="45720" cy="14356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lb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895" y="3236976"/>
            <a:ext cx="6887504" cy="132588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13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C5D6AD-23A7-A928-3895-4C78EC3FFFD3}"/>
              </a:ext>
            </a:extLst>
          </p:cNvPr>
          <p:cNvSpPr txBox="1"/>
          <p:nvPr/>
        </p:nvSpPr>
        <p:spPr>
          <a:xfrm>
            <a:off x="456895" y="4808064"/>
            <a:ext cx="10527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5A6672"/>
                </a:solidFill>
                <a:highlight>
                  <a:srgbClr val="FFFF00"/>
                </a:highlight>
                <a:latin typeface="Calibri"/>
              </a:rPr>
              <a:t>KL Divergence </a:t>
            </a:r>
            <a:r>
              <a:rPr lang="en-US" altLang="zh-CN" dirty="0">
                <a:solidFill>
                  <a:srgbClr val="5A6672"/>
                </a:solidFill>
                <a:latin typeface="Calibri"/>
              </a:rPr>
              <a:t>measures the “difference between two distributions”.  Here we use KL terms to measure the difference between the noise predicted by model and the actual noise added to the image.</a:t>
            </a:r>
            <a:endParaRPr lang="zh-CN" altLang="en-US" dirty="0">
              <a:solidFill>
                <a:srgbClr val="5A667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3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From KL divergence to a simple noise-regression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Both distributions in Lₜ₋₁ are Gaussian, so the KL has a closed form. With the variance fixed, only the means matter: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92808"/>
            <a:ext cx="11057839" cy="731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92808"/>
            <a:ext cx="45720" cy="7315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kl_gau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884" y="1986534"/>
            <a:ext cx="5992633" cy="5440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7432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b="0" i="0" dirty="0">
                <a:solidFill>
                  <a:srgbClr val="5A6672"/>
                </a:solidFill>
                <a:latin typeface="Calibri"/>
              </a:rPr>
              <a:t>Substituting x₀ = (xₜ − √(1−ᾱₜ)·ε)/√(ᾱₜ) removes x₀ and leaves a prediction of the noise itself: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11057839" cy="1005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127248"/>
            <a:ext cx="45720" cy="10058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ean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906" y="3241548"/>
            <a:ext cx="5172588" cy="777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66928" y="4242816"/>
            <a:ext cx="11057839" cy="932688"/>
          </a:xfrm>
          <a:prstGeom prst="rect">
            <a:avLst/>
          </a:prstGeom>
          <a:solidFill>
            <a:srgbClr val="E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4242816"/>
            <a:ext cx="45720" cy="93268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oss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751" y="4419953"/>
            <a:ext cx="6700497" cy="64673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14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B38166-10F7-D0E2-3D56-119E95AC8634}"/>
              </a:ext>
            </a:extLst>
          </p:cNvPr>
          <p:cNvSpPr txBox="1"/>
          <p:nvPr/>
        </p:nvSpPr>
        <p:spPr>
          <a:xfrm>
            <a:off x="612648" y="5349240"/>
            <a:ext cx="1121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5A6672"/>
                </a:solidFill>
                <a:highlight>
                  <a:srgbClr val="FFFF00"/>
                </a:highlight>
                <a:latin typeface="Calibri"/>
              </a:rPr>
              <a:t>L2 loss</a:t>
            </a:r>
            <a:r>
              <a:rPr lang="en-US" altLang="zh-CN" dirty="0">
                <a:solidFill>
                  <a:srgbClr val="5A6672"/>
                </a:solidFill>
                <a:latin typeface="Calibri"/>
              </a:rPr>
              <a:t> shows the square of error between the added noise and the noise predicted by neural network.</a:t>
            </a:r>
          </a:p>
          <a:p>
            <a:r>
              <a:rPr lang="en-US" altLang="zh-CN" dirty="0">
                <a:solidFill>
                  <a:srgbClr val="5A6672"/>
                </a:solidFill>
                <a:latin typeface="Calibri"/>
              </a:rPr>
              <a:t>Mean Squared Error(MSE) is the simplified training objective, depicting the accuracy for the model to predict noise.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4 · ALGORITHM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Training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6080760" cy="309981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45720" cy="309981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repeat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05940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x0    ~ q(x0)                    # sample a clean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02536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t     ~ Uniform({1, ..., T})      # pick a random time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99132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eps   ~ N(0, I)                   # draw standard Gaussian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8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gradient-descent step 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92324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    || eps - eps_theta( sqrt(abar[t]) * x0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                        + sqrt(1 - abar[t]) * eps, t ) ||^2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85515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until converged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273551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# cs231n/gaussian_diffusion.py  -&gt;  p_losses()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470147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t      = torch.randint(0, T, (b,))      # one random t per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666744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noise  = torch.randn_like(x_start)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63339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x_t    = q_sample(x_start, t, noise)    # sqrt(abar)*x0 + sqrt(1-abar)*eps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target = noise if objective == 'pred_noise' else x_start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56531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loss   = ((model(x_t, t) - target) ** 2).mean()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1627632"/>
            <a:ext cx="4245559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predict eps from (x[t], t);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one random t per example;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closed form =&gt; one net call;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eps and x0 are equivalent.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15</a:t>
            </a:r>
          </a:p>
        </p:txBody>
      </p:sp>
      <p:pic>
        <p:nvPicPr>
          <p:cNvPr id="26" name="Picture 25" descr="samples_over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443" y="626364"/>
            <a:ext cx="5289126" cy="42711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86193" y="5407762"/>
            <a:ext cx="4242816" cy="1005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A6672"/>
                </a:solidFill>
                <a:latin typeface="Calibri"/>
              </a:rPr>
              <a:t>Reverse process p(xₜ₋₁|xₜ): four independent runs from pure noise x_T down to x_0, using the pretrained weights.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4 · ALGORITHM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Sampling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6537960" cy="309981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45720" cy="3099816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x[T] ~ N(0, 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05940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for t = T, ..., 1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02536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z      = randn_like(x[t]) if t &gt; 1 else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99132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x[t-1] = (1/sqrt(alpha[t])) * ( x[t]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8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           - (beta[t]/sqrt(1 - abar[t])) * eps_theta(x[t], t)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92324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             + sigma[t] * 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end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85515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2545"/>
                </a:solidFill>
                <a:latin typeface="Consolas"/>
              </a:rPr>
              <a:t>return x[0]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273551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# cs231n/gaussian_diffusion.py  -&gt;  p_sample()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470147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model_out = model(x_t, 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666744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x_start   = predict_start_from_noise(x_t, t, model_out)  # invert x_t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63339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x_start.clamp_(-1.0, 1.0)        # keep generation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mean, std = q_posterior(x_start, x_t, 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56531"/>
            <a:ext cx="6080760" cy="196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B3A5C"/>
                </a:solidFill>
                <a:latin typeface="Consolas"/>
              </a:rPr>
              <a:t>return mean + (t != 0) * std * torch.randn_like(x_t)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1627632"/>
            <a:ext cx="4245559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start from pure noise;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one net call per step;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T = 1000, so sampling is slow;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dirty="0">
                <a:solidFill>
                  <a:srgbClr val="0B2545"/>
                </a:solidFill>
                <a:latin typeface="Calibri"/>
              </a:rPr>
              <a:t>▪  sigma[t]*z keeps it stochastic.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STEP 5 ·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Design choices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99616"/>
            <a:ext cx="45720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002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Noise schedule βₜ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1609344"/>
            <a:ext cx="73545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0B2545"/>
                </a:solidFill>
                <a:latin typeface="Calibri"/>
              </a:rPr>
              <a:t>linear (original DDPM)  ·  cosine (better SNR)  ·  sigmoid (above 64×64)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11057839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45720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340864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Reverse variance σₜ²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350008"/>
            <a:ext cx="73545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300" b="0" i="0" dirty="0">
                <a:solidFill>
                  <a:srgbClr val="0B2545"/>
                </a:solidFill>
                <a:latin typeface="Calibri"/>
              </a:rPr>
              <a:t>analytic value  ·  DDPM fixes σₜ² = βₜ  ·  </a:t>
            </a:r>
            <a:r>
              <a:rPr sz="1300" b="0" i="0" dirty="0" err="1">
                <a:solidFill>
                  <a:srgbClr val="0B2545"/>
                </a:solidFill>
                <a:latin typeface="Calibri"/>
              </a:rPr>
              <a:t>iDDPM</a:t>
            </a:r>
            <a:r>
              <a:rPr sz="1300" b="0" i="0" dirty="0">
                <a:solidFill>
                  <a:srgbClr val="0B2545"/>
                </a:solidFill>
                <a:latin typeface="Calibri"/>
              </a:rPr>
              <a:t> learns a hybrid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80944"/>
            <a:ext cx="11057839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980944"/>
            <a:ext cx="45720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0815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Network εθ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090672"/>
            <a:ext cx="73545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0B2545"/>
                </a:solidFill>
                <a:latin typeface="Calibri"/>
              </a:rPr>
              <a:t>U-Net with skips  ·  residual blocks  ·  self-attention at low resolution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21608"/>
            <a:ext cx="11057839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721608"/>
            <a:ext cx="45720" cy="6583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82219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Timestep conditioning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3831336"/>
            <a:ext cx="73545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0B2545"/>
                </a:solidFill>
                <a:latin typeface="Calibri"/>
              </a:rPr>
              <a:t>sinusoidal embedding of t, injected by scale-and-shift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Results and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56248" y="987552"/>
            <a:ext cx="4572000" cy="1591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 dirty="0">
                <a:solidFill>
                  <a:srgbClr val="0B2545"/>
                </a:solidFill>
                <a:latin typeface="Calibri"/>
              </a:rPr>
              <a:t>▪  DDPM reported state-of-the-art FID on CIFAR-10 and high-quality 256×256 ImageNet samples.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 dirty="0">
                <a:solidFill>
                  <a:srgbClr val="0B2545"/>
                </a:solidFill>
                <a:latin typeface="Calibri"/>
              </a:rPr>
              <a:t>▪  FID 3.17 on CIFAR-10 (unconditional) — competitive with the best GANs of its time.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 dirty="0">
                <a:solidFill>
                  <a:srgbClr val="0B2545"/>
                </a:solidFill>
                <a:latin typeface="Calibri"/>
              </a:rPr>
              <a:t>▪  Quality improves with model size and with the number of sampling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6248" y="2926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1" i="0" dirty="0">
                <a:solidFill>
                  <a:srgbClr val="0E7C86"/>
                </a:solidFill>
                <a:latin typeface="Calibri"/>
              </a:rPr>
              <a:t>Direct descendants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332841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00" b="0" i="0" dirty="0">
                <a:solidFill>
                  <a:srgbClr val="0B2545"/>
                </a:solidFill>
                <a:latin typeface="Calibri"/>
              </a:rPr>
              <a:t>–  DDIM — deterministic, far fewer sampling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371246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00" b="0" i="0" dirty="0">
                <a:solidFill>
                  <a:srgbClr val="0B2545"/>
                </a:solidFill>
                <a:latin typeface="Calibri"/>
              </a:rPr>
              <a:t>–  Score-based SDE — continuous-time unification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4096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00" b="0" i="0" dirty="0">
                <a:solidFill>
                  <a:srgbClr val="0B2545"/>
                </a:solidFill>
                <a:latin typeface="Calibri"/>
              </a:rPr>
              <a:t>–  Classifier-free guidance — conditional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448056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00" b="0" i="0" dirty="0">
                <a:solidFill>
                  <a:srgbClr val="0B2545"/>
                </a:solidFill>
                <a:latin typeface="Calibri"/>
              </a:rPr>
              <a:t>–  Latent diffusion — diffuse in a compressed latent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486460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400" b="0" i="0" dirty="0">
                <a:solidFill>
                  <a:srgbClr val="0B2545"/>
                </a:solidFill>
                <a:latin typeface="Calibri"/>
              </a:rPr>
              <a:t>–  Diffusion Transformers — replace U-Net with a Transformer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401318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b="1" i="0">
                <a:solidFill>
                  <a:srgbClr val="0E7C86"/>
                </a:solidFill>
                <a:latin typeface="Calibri"/>
              </a:rPr>
              <a:t>Sampled from the pretrained model</a:t>
            </a:r>
          </a:p>
        </p:txBody>
      </p:sp>
      <p:pic>
        <p:nvPicPr>
          <p:cNvPr id="17" name="Picture 16" descr="sample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92224"/>
            <a:ext cx="3931920" cy="396206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582743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A6672"/>
                </a:solidFill>
                <a:latin typeface="Calibri"/>
              </a:rPr>
              <a:t>25 unconditional samples, T = 100.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1" i="0" dirty="0">
                <a:solidFill>
                  <a:srgbClr val="0E7C86"/>
                </a:solidFill>
                <a:latin typeface="Calibri"/>
              </a:rPr>
              <a:t>OUTCOME ·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Generation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b="1" i="0" dirty="0">
                <a:solidFill>
                  <a:srgbClr val="0E7C86"/>
                </a:solidFill>
                <a:latin typeface="Calibri"/>
              </a:rPr>
              <a:t>Unconditional samples</a:t>
            </a:r>
          </a:p>
        </p:txBody>
      </p:sp>
      <p:pic>
        <p:nvPicPr>
          <p:cNvPr id="7" name="Picture 6" descr="sample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92224"/>
            <a:ext cx="3931920" cy="39620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0915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A6672"/>
                </a:solidFill>
                <a:latin typeface="Calibri"/>
              </a:rPr>
              <a:t>25 samples, T =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9924" y="1097280"/>
            <a:ext cx="5184648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b="1" i="0" dirty="0">
                <a:solidFill>
                  <a:srgbClr val="0E7C86"/>
                </a:solidFill>
                <a:latin typeface="Calibri"/>
              </a:rPr>
              <a:t>Classifier-free guidance — "crying face"</a:t>
            </a:r>
            <a:r>
              <a:rPr lang="en-US" b="1" i="0" dirty="0">
                <a:solidFill>
                  <a:srgbClr val="0E7C86"/>
                </a:solidFill>
                <a:latin typeface="Calibri"/>
              </a:rPr>
              <a:t> </a:t>
            </a:r>
            <a:r>
              <a:rPr lang="en-US" altLang="zh-CN" b="1" dirty="0">
                <a:solidFill>
                  <a:srgbClr val="0E7C86"/>
                </a:solidFill>
                <a:latin typeface="Calibri"/>
              </a:rPr>
              <a:t>g</a:t>
            </a:r>
            <a:r>
              <a:rPr lang="en-US" altLang="zh-CN" b="1" i="0" dirty="0">
                <a:solidFill>
                  <a:srgbClr val="0E7C86"/>
                </a:solidFill>
                <a:latin typeface="Calibri"/>
              </a:rPr>
              <a:t>eneration</a:t>
            </a:r>
            <a:endParaRPr b="1" i="0" dirty="0">
              <a:solidFill>
                <a:srgbClr val="0E7C86"/>
              </a:solidFill>
              <a:latin typeface="Calibri"/>
            </a:endParaRPr>
          </a:p>
        </p:txBody>
      </p:sp>
      <p:pic>
        <p:nvPicPr>
          <p:cNvPr id="10" name="Picture 9" descr="cfg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1460616"/>
            <a:ext cx="4069080" cy="41322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6248" y="584009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672"/>
                </a:solidFill>
                <a:latin typeface="Calibri"/>
              </a:rPr>
              <a:t>w = 0 / 2 / 5 / 10.  Higher w → more faithful to the prompt, less diverse.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69280"/>
            <a:ext cx="11055096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574243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0B2545"/>
                </a:solidFill>
                <a:latin typeface="Consolas"/>
              </a:rPr>
              <a:t>q_sample 5.1e-07  ·  predict_start_from_noise 2.8e-06  ·  predict_noise_from_start 1.1e-06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961888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5A6672"/>
                </a:solidFill>
                <a:latin typeface="Calibri"/>
              </a:rPr>
              <a:t>U-Net 12.4M params  ·  reproduced from the released pretrained checkpoint (step 70,000)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1014069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1944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731520"/>
            <a:ext cx="1060063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481328"/>
            <a:ext cx="1645920" cy="45720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87451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700" b="1" i="0">
                <a:solidFill>
                  <a:srgbClr val="0E7C86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874519"/>
            <a:ext cx="9777679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Diffusion replaces one hard generation problem with many easy denoising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0603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700" b="1" i="0">
                <a:solidFill>
                  <a:srgbClr val="0E7C86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606039"/>
            <a:ext cx="9777679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2000" dirty="0">
                <a:solidFill>
                  <a:srgbClr val="FFFFFF"/>
                </a:solidFill>
                <a:latin typeface="Calibri"/>
              </a:rPr>
              <a:t>The forward process is fixed; a Gaussian closed form gives xₜ directly from x₀.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33755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700" b="1" i="0">
                <a:solidFill>
                  <a:srgbClr val="0E7C86"/>
                </a:solidFill>
                <a:latin typeface="Calibr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337559"/>
            <a:ext cx="9777679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2000" dirty="0">
                <a:solidFill>
                  <a:srgbClr val="FFFFFF"/>
                </a:solidFill>
                <a:latin typeface="Calibri"/>
              </a:rPr>
              <a:t>The true reverse posterior is </a:t>
            </a:r>
            <a:r>
              <a:rPr lang="en-US" altLang="zh-CN" sz="2000" dirty="0">
                <a:solidFill>
                  <a:srgbClr val="FFFFFF"/>
                </a:solidFill>
                <a:latin typeface="Calibri"/>
              </a:rPr>
              <a:t>intractable</a:t>
            </a:r>
            <a:r>
              <a:rPr sz="2000" dirty="0">
                <a:solidFill>
                  <a:srgbClr val="FFFFFF"/>
                </a:solidFill>
                <a:latin typeface="Calibri"/>
              </a:rPr>
              <a:t>, so we condition on x₀ to obtain a Gaussian.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06907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700" b="1" i="0">
                <a:solidFill>
                  <a:srgbClr val="0E7C86"/>
                </a:solidFill>
                <a:latin typeface="Calibr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069079"/>
            <a:ext cx="9777679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dirty="0">
                <a:solidFill>
                  <a:srgbClr val="FFFFFF"/>
                </a:solidFill>
                <a:latin typeface="Calibri"/>
              </a:rPr>
              <a:t>The variational bound reduces to a simple noise-regression loss </a:t>
            </a:r>
            <a:r>
              <a:rPr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E[‖ε − εθ‖²].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80059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700" b="1" i="0">
                <a:solidFill>
                  <a:srgbClr val="0E7C86"/>
                </a:solidFill>
                <a:latin typeface="Calibr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800599"/>
            <a:ext cx="9777679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000" dirty="0">
                <a:solidFill>
                  <a:srgbClr val="FFFFFF"/>
                </a:solidFill>
                <a:latin typeface="Calibri"/>
              </a:rPr>
              <a:t>Training is stable and parallel; the price is slow, iterative sampling.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10140696" cy="2377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00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1944" y="6446520"/>
            <a:ext cx="640080" cy="2377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r>
              <a:rPr sz="1000">
                <a:solidFill>
                  <a:srgbClr val="5A667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E7C86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0B2545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417320" cy="41148"/>
          </a:xfrm>
          <a:prstGeom prst="rect">
            <a:avLst/>
          </a:prstGeom>
          <a:solidFill>
            <a:srgbClr val="B4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2704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49961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Ho, Jain &amp; Abbeel. Denoising Diffusion Probabilistic Models.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NeurIPS 2020.  arXiv:2006.11239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7568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04825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Sohl-Dickstein et al. Deep Unsupervised Learning using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Nonequilibrium Thermodynamics. ICML 2015.  arXiv:1503.03585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2432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9689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Song &amp; Ermon. Generative Modeling by Estimating Gradients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of the Data Distribution. NeurIPS 2019.  arXiv:1907.05600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7296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14553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Song, Meng &amp; Ermon. Denoising Diffusion Implicit Models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(DDIM). ICLR 2021.  arXiv:2010.02502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2160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69417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Song et al. Score-Based Generative Modeling through SDEs.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ICLR 2021.  arXiv:2011.13456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52704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[6]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149961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Nichol &amp; Dhariwal. Improved Denoising Diffusion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Probabilistic Models. ICML 2021.  arXiv:2102.09672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07568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[7]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04825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Ho &amp; Salimans. Classifier-Free Diffusion Guidance.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2022.  arXiv:2207.12598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62432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59689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Rombach et al. High-Resolution Image Synthesis with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Latent Diffusion Models. CVPR 2022.  arXiv:2112.10752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317296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14553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Peebles &amp; Xie. Scalable Diffusion Models with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Transformers (DiT). ICCV 2023.  arXiv:2212.09748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72160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0E7C86"/>
                </a:solidFill>
                <a:latin typeface="Calibri"/>
              </a:rPr>
              <a:t>[10]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694176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Liu, Gong &amp; Liu. Flow Straight and Fast: Learning to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Generate and Transfer Data with Rectified Flow.</a:t>
            </a:r>
          </a:p>
          <a:p>
            <a:pPr algn="l">
              <a:lnSpc>
                <a:spcPct val="98000"/>
              </a:lnSpc>
            </a:pPr>
            <a:r>
              <a:rPr sz="1050" b="0" i="0">
                <a:solidFill>
                  <a:srgbClr val="0B2545"/>
                </a:solidFill>
                <a:latin typeface="Calibri"/>
              </a:rPr>
              <a:t>2022.  arXiv:2209.03003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828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0" i="1">
                <a:solidFill>
                  <a:srgbClr val="5A6672"/>
                </a:solidFill>
                <a:latin typeface="Calibri"/>
              </a:rPr>
              <a:t>All references verified against the official proceedings / arXiv listings.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382512"/>
            <a:ext cx="11057839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6446520"/>
            <a:ext cx="1014343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84687" y="644652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</a:pPr>
            <a:r>
              <a:rPr sz="1000">
                <a:solidFill>
                  <a:srgbClr val="5A667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6824-8EA9-A91B-24A0-43FD0778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EE3854-5201-443C-10FA-0EF1C6D9184E}"/>
              </a:ext>
            </a:extLst>
          </p:cNvPr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A820D-5A83-9A39-3060-D02F15B61E41}"/>
              </a:ext>
            </a:extLst>
          </p:cNvPr>
          <p:cNvSpPr txBox="1"/>
          <p:nvPr/>
        </p:nvSpPr>
        <p:spPr>
          <a:xfrm>
            <a:off x="7011023" y="1248994"/>
            <a:ext cx="490417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lang="en-US" altLang="zh-CN" sz="320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Thank you for watching !</a:t>
            </a:r>
            <a:endParaRPr sz="3200" b="1" i="0" dirty="0">
              <a:solidFill>
                <a:schemeClr val="tx2">
                  <a:lumMod val="60000"/>
                  <a:lumOff val="40000"/>
                </a:schemeClr>
              </a:solidFill>
              <a:latin typeface="Calibri"/>
            </a:endParaRPr>
          </a:p>
        </p:txBody>
      </p:sp>
      <p:pic>
        <p:nvPicPr>
          <p:cNvPr id="30" name="图片 29" descr="Wooden blocks spelling thank you on a shelf against a blurred green background">
            <a:extLst>
              <a:ext uri="{FF2B5EF4-FFF2-40B4-BE49-F238E27FC236}">
                <a16:creationId xmlns:a16="http://schemas.microsoft.com/office/drawing/2014/main" id="{55406E63-DE18-C95A-7C3B-91564576B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22" y="1248994"/>
            <a:ext cx="5305578" cy="353705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5C3AC2AF-B410-7626-3A29-5DEB851B3FA7}"/>
              </a:ext>
            </a:extLst>
          </p:cNvPr>
          <p:cNvSpPr txBox="1"/>
          <p:nvPr/>
        </p:nvSpPr>
        <p:spPr>
          <a:xfrm>
            <a:off x="790422" y="5101174"/>
            <a:ext cx="3593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cs typeface="Times New Roman" panose="02020603050405020304" pitchFamily="18" charset="0"/>
              </a:rPr>
              <a:t>Presented by:</a:t>
            </a:r>
          </a:p>
          <a:p>
            <a:r>
              <a:rPr lang="en-US" altLang="zh-CN" sz="2400" dirty="0">
                <a:cs typeface="Times New Roman" panose="02020603050405020304" pitchFamily="18" charset="0"/>
              </a:rPr>
              <a:t>WU Peihang</a:t>
            </a:r>
          </a:p>
          <a:p>
            <a:r>
              <a:rPr lang="en-US" altLang="zh-CN" sz="2400" dirty="0">
                <a:cs typeface="Times New Roman" panose="02020603050405020304" pitchFamily="18" charset="0"/>
              </a:rPr>
              <a:t>24108869D</a:t>
            </a:r>
            <a:endParaRPr lang="zh-CN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7739541-E67F-1905-969F-EF89A62D8E2C}"/>
              </a:ext>
            </a:extLst>
          </p:cNvPr>
          <p:cNvSpPr txBox="1"/>
          <p:nvPr/>
        </p:nvSpPr>
        <p:spPr>
          <a:xfrm>
            <a:off x="7011023" y="1933023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Questions are welcome.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9C60CCE-F453-E481-D831-87C2307DC714}"/>
              </a:ext>
            </a:extLst>
          </p:cNvPr>
          <p:cNvSpPr txBox="1"/>
          <p:nvPr/>
        </p:nvSpPr>
        <p:spPr>
          <a:xfrm>
            <a:off x="790422" y="290990"/>
            <a:ext cx="8291322" cy="59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lang="en-US" altLang="zh-CN" sz="3200" b="1" i="0" dirty="0">
                <a:latin typeface="Calibri"/>
              </a:rPr>
              <a:t>Diffusion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46520"/>
            <a:ext cx="10140696" cy="2377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sz="1000">
                <a:solidFill>
                  <a:srgbClr val="5A6672"/>
                </a:solidFill>
                <a:latin typeface="Calibri"/>
              </a:rPr>
              <a:t>Denoising Diffusion Probabilistic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81944" y="6446520"/>
            <a:ext cx="640080" cy="2377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r>
              <a:rPr sz="1000">
                <a:solidFill>
                  <a:srgbClr val="5A6672"/>
                </a:solidFill>
                <a:latin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991970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2282</Words>
  <Application>Microsoft Office PowerPoint</Application>
  <PresentationFormat>宽屏</PresentationFormat>
  <Paragraphs>269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Mickrom.Wu.</dc:creator>
  <cp:keywords/>
  <dc:description>generated using python-pptx</dc:description>
  <cp:lastModifiedBy>WU, Peihang Mickrom [Student]</cp:lastModifiedBy>
  <cp:revision>25</cp:revision>
  <dcterms:created xsi:type="dcterms:W3CDTF">2013-01-27T09:14:16Z</dcterms:created>
  <dcterms:modified xsi:type="dcterms:W3CDTF">2026-10-15T05:41:26Z</dcterms:modified>
  <cp:category/>
</cp:coreProperties>
</file>